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Canva Sans Bold" panose="020B0604020202020204" charset="0"/>
      <p:regular r:id="rId30"/>
    </p:embeddedFont>
    <p:embeddedFont>
      <p:font typeface="Open Sauce" panose="020B0604020202020204" charset="0"/>
      <p:regular r:id="rId31"/>
    </p:embeddedFont>
    <p:embeddedFont>
      <p:font typeface="Open Sauce Bold" panose="020B0604020202020204" charset="0"/>
      <p:regular r:id="rId32"/>
    </p:embeddedFont>
    <p:embeddedFont>
      <p:font typeface="Open Sauce Heavy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1066" y="-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E8DD34-A951-4118-A94A-B3DB4E16D5BF}" type="datetimeFigureOut">
              <a:rPr lang="en-IN" smtClean="0"/>
              <a:t>03-06-2025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426781-9353-4E92-BCD8-E674AC1EF9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60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26781-9353-4E92-BCD8-E674AC1EF93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357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3600" y="3694153"/>
            <a:ext cx="14328146" cy="174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67"/>
              </a:lnSpc>
            </a:pPr>
            <a:r>
              <a:rPr lang="en-US" sz="13007" b="1" dirty="0">
                <a:ea typeface="Open Sauce Heavy"/>
                <a:cs typeface="Open Sauce Heavy"/>
                <a:sym typeface="Open Sauce Heavy"/>
              </a:rPr>
              <a:t>SQL- PROJECT</a:t>
            </a:r>
          </a:p>
        </p:txBody>
      </p:sp>
      <p:sp>
        <p:nvSpPr>
          <p:cNvPr id="3" name="Freeform 3"/>
          <p:cNvSpPr/>
          <p:nvPr/>
        </p:nvSpPr>
        <p:spPr>
          <a:xfrm>
            <a:off x="14048009" y="-741890"/>
            <a:ext cx="7315200" cy="3657600"/>
          </a:xfrm>
          <a:custGeom>
            <a:avLst/>
            <a:gdLst/>
            <a:ahLst/>
            <a:cxnLst/>
            <a:rect l="l" t="t" r="r" b="b"/>
            <a:pathLst>
              <a:path w="7315200" h="36576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618699" y="-1086910"/>
            <a:ext cx="2173821" cy="217382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flipH="1">
            <a:off x="-1631347" y="6083524"/>
            <a:ext cx="5874518" cy="5874518"/>
          </a:xfrm>
          <a:custGeom>
            <a:avLst/>
            <a:gdLst/>
            <a:ahLst/>
            <a:cxnLst/>
            <a:rect l="l" t="t" r="r" b="b"/>
            <a:pathLst>
              <a:path w="5874518" h="5874518">
                <a:moveTo>
                  <a:pt x="5874518" y="0"/>
                </a:moveTo>
                <a:lnTo>
                  <a:pt x="0" y="0"/>
                </a:lnTo>
                <a:lnTo>
                  <a:pt x="0" y="5874518"/>
                </a:lnTo>
                <a:lnTo>
                  <a:pt x="5874518" y="5874518"/>
                </a:lnTo>
                <a:lnTo>
                  <a:pt x="587451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1123584" y="5143500"/>
            <a:ext cx="2598841" cy="259884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852145" y="5714715"/>
            <a:ext cx="10583711" cy="55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4"/>
              </a:lnSpc>
            </a:pPr>
            <a:r>
              <a:rPr lang="en-US" sz="3777" dirty="0" err="1">
                <a:latin typeface="Open Sauce"/>
                <a:ea typeface="Open Sauce"/>
                <a:cs typeface="Open Sauce"/>
                <a:sym typeface="Open Sauce"/>
              </a:rPr>
              <a:t>Mysql</a:t>
            </a:r>
            <a:r>
              <a:rPr lang="en-US" sz="3777" dirty="0">
                <a:latin typeface="Open Sauce"/>
                <a:ea typeface="Open Sauce"/>
                <a:cs typeface="Open Sauce"/>
                <a:sym typeface="Open Sauce"/>
              </a:rPr>
              <a:t> course- Besant Technologies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31092" y="7962900"/>
            <a:ext cx="5874518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857" b="1" dirty="0">
                <a:latin typeface="Open Sauce Bold"/>
                <a:ea typeface="Open Sauce Bold"/>
                <a:cs typeface="Open Sauce Bold"/>
                <a:sym typeface="Open Sauce Bold"/>
              </a:rPr>
              <a:t>Abhishek B K</a:t>
            </a:r>
          </a:p>
          <a:p>
            <a:pPr algn="l">
              <a:lnSpc>
                <a:spcPts val="3285"/>
              </a:lnSpc>
            </a:pPr>
            <a:r>
              <a:rPr lang="en-US" sz="2857" b="1" dirty="0">
                <a:latin typeface="Open Sauce Bold"/>
                <a:ea typeface="Open Sauce Bold"/>
                <a:cs typeface="Open Sauce Bold"/>
                <a:sym typeface="Open Sauce Bold"/>
              </a:rPr>
              <a:t>8880445554</a:t>
            </a:r>
          </a:p>
          <a:p>
            <a:pPr algn="l">
              <a:lnSpc>
                <a:spcPts val="3285"/>
              </a:lnSpc>
            </a:pPr>
            <a:r>
              <a:rPr lang="en-US" sz="2857" b="1" dirty="0">
                <a:latin typeface="Open Sauce Bold"/>
                <a:ea typeface="Open Sauce Bold"/>
                <a:cs typeface="Open Sauce Bold"/>
                <a:sym typeface="Open Sauce Bold"/>
              </a:rPr>
              <a:t>korishettyabhishek@gmail.com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2096" y="7962900"/>
            <a:ext cx="658996" cy="424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2857" b="1" dirty="0">
                <a:latin typeface="Open Sauce Bold"/>
                <a:ea typeface="Open Sauce Bold"/>
                <a:cs typeface="Open Sauce Bold"/>
                <a:sym typeface="Open Sauce Bold"/>
              </a:rPr>
              <a:t>By</a:t>
            </a:r>
            <a:r>
              <a:rPr lang="en-US" sz="2857" b="1" dirty="0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63368" y="1449592"/>
            <a:ext cx="10961264" cy="139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8"/>
              </a:lnSpc>
            </a:pPr>
            <a:r>
              <a:rPr lang="en-US" sz="10331" b="1" dirty="0">
                <a:latin typeface="Open Sauce Heavy"/>
                <a:ea typeface="Open Sauce Heavy"/>
                <a:cs typeface="Open Sauce Heavy"/>
                <a:sym typeface="Open Sauce Heavy"/>
              </a:rPr>
              <a:t>SQL</a:t>
            </a:r>
          </a:p>
        </p:txBody>
      </p:sp>
      <p:sp>
        <p:nvSpPr>
          <p:cNvPr id="3" name="Freeform 3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6759" y="3047067"/>
            <a:ext cx="14794482" cy="420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5697" lvl="1" indent="-387848" algn="l">
              <a:lnSpc>
                <a:spcPts val="4131"/>
              </a:lnSpc>
              <a:buFont typeface="Arial"/>
              <a:buChar char="•"/>
            </a:pPr>
            <a:r>
              <a:rPr lang="en-US" sz="3592" dirty="0">
                <a:latin typeface="Open Sauce"/>
                <a:ea typeface="Open Sauce"/>
                <a:cs typeface="Open Sauce"/>
                <a:sym typeface="Open Sauce"/>
              </a:rPr>
              <a:t>Structured query language(SQL) is the programming language used to maintain and manipulate relational databases.</a:t>
            </a:r>
          </a:p>
          <a:p>
            <a:pPr marL="775697" lvl="1" indent="-387848" algn="l">
              <a:lnSpc>
                <a:spcPts val="4131"/>
              </a:lnSpc>
              <a:buFont typeface="Arial"/>
              <a:buChar char="•"/>
            </a:pPr>
            <a:r>
              <a:rPr lang="en-US" sz="3592" dirty="0">
                <a:latin typeface="Open Sauce"/>
                <a:ea typeface="Open Sauce"/>
                <a:cs typeface="Open Sauce"/>
                <a:sym typeface="Open Sauce"/>
              </a:rPr>
              <a:t>Relational databases are the databases which store data in the form of tables and follow the E.F Codd rules.</a:t>
            </a:r>
          </a:p>
          <a:p>
            <a:pPr marL="775697" lvl="1" indent="-387848" algn="l">
              <a:lnSpc>
                <a:spcPts val="4131"/>
              </a:lnSpc>
              <a:buFont typeface="Arial"/>
              <a:buChar char="•"/>
            </a:pPr>
            <a:r>
              <a:rPr lang="en-US" sz="3592" dirty="0">
                <a:latin typeface="Open Sauce"/>
                <a:ea typeface="Open Sauce"/>
                <a:cs typeface="Open Sauce"/>
                <a:sym typeface="Open Sauce"/>
              </a:rPr>
              <a:t>In these we analyze the IPL dataset with the help of SQL</a:t>
            </a:r>
          </a:p>
          <a:p>
            <a:pPr marL="775697" lvl="1" indent="-387848" algn="l">
              <a:lnSpc>
                <a:spcPts val="4131"/>
              </a:lnSpc>
              <a:buFont typeface="Arial"/>
              <a:buChar char="•"/>
            </a:pPr>
            <a:r>
              <a:rPr lang="en-US" sz="3592" dirty="0">
                <a:latin typeface="Open Sauce"/>
                <a:ea typeface="Open Sauce"/>
                <a:cs typeface="Open Sauce"/>
                <a:sym typeface="Open Sauce"/>
              </a:rPr>
              <a:t>The sample IPL dataset can be downloaded from the Kaggle website.</a:t>
            </a:r>
          </a:p>
          <a:p>
            <a:pPr algn="l">
              <a:lnSpc>
                <a:spcPts val="4131"/>
              </a:lnSpc>
            </a:pPr>
            <a:endParaRPr lang="en-US" sz="3592" dirty="0">
              <a:solidFill>
                <a:srgbClr val="007D9C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FF5785-282A-7801-86B4-BBEB320E1CE7}"/>
              </a:ext>
            </a:extLst>
          </p:cNvPr>
          <p:cNvSpPr txBox="1"/>
          <p:nvPr/>
        </p:nvSpPr>
        <p:spPr>
          <a:xfrm>
            <a:off x="2514600" y="627639"/>
            <a:ext cx="13258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1. </a:t>
            </a:r>
            <a:r>
              <a:rPr lang="en-US" sz="4400" b="1" dirty="0"/>
              <a:t>BETWEEN – Find matches won by a margin between 10 and 20 runs</a:t>
            </a:r>
            <a:endParaRPr lang="en-IN" sz="4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CD9DE1-836D-E5C6-4288-8252CD4F3519}"/>
              </a:ext>
            </a:extLst>
          </p:cNvPr>
          <p:cNvSpPr txBox="1"/>
          <p:nvPr/>
        </p:nvSpPr>
        <p:spPr>
          <a:xfrm>
            <a:off x="2531172" y="2637298"/>
            <a:ext cx="127850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winner, win_by_runs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win_by_runs BETWEEN 10 AND 20;</a:t>
            </a:r>
          </a:p>
          <a:p>
            <a:endParaRPr lang="en-IN" sz="3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B895324-C4B3-D19E-CC32-AC560D249FA9}"/>
              </a:ext>
            </a:extLst>
          </p:cNvPr>
          <p:cNvSpPr/>
          <p:nvPr/>
        </p:nvSpPr>
        <p:spPr>
          <a:xfrm>
            <a:off x="1371600" y="273076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789196-CABD-A5A6-6893-D845130881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354" y="4551890"/>
            <a:ext cx="6525536" cy="44964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5BDD8FD-9F59-2DBA-8613-F6EB664CD732}"/>
              </a:ext>
            </a:extLst>
          </p:cNvPr>
          <p:cNvSpPr txBox="1"/>
          <p:nvPr/>
        </p:nvSpPr>
        <p:spPr>
          <a:xfrm>
            <a:off x="2662392" y="723900"/>
            <a:ext cx="121204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2. IN – Find matches played in select cities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3E02E2-7EB5-77F6-549B-842A857E0565}"/>
              </a:ext>
            </a:extLst>
          </p:cNvPr>
          <p:cNvSpPr txBox="1"/>
          <p:nvPr/>
        </p:nvSpPr>
        <p:spPr>
          <a:xfrm>
            <a:off x="2662392" y="2055379"/>
            <a:ext cx="89359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id, city, date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city IN ('Mumbai', 'Delhi', 'Kolkata');</a:t>
            </a:r>
            <a:endParaRPr lang="en-IN" sz="3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FFEE8E0-2304-6005-61CE-C69AEF3D22DF}"/>
              </a:ext>
            </a:extLst>
          </p:cNvPr>
          <p:cNvSpPr/>
          <p:nvPr/>
        </p:nvSpPr>
        <p:spPr>
          <a:xfrm>
            <a:off x="1552763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B1D569-38AE-B455-EC65-F80585290D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580" y="4020491"/>
            <a:ext cx="5715798" cy="45440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Rectangle 3">
            <a:extLst>
              <a:ext uri="{FF2B5EF4-FFF2-40B4-BE49-F238E27FC236}">
                <a16:creationId xmlns:a16="http://schemas.microsoft.com/office/drawing/2014/main" id="{0B66C44B-3A24-5107-6818-F6E8D7315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667327"/>
            <a:ext cx="12098545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LIKE – Find players whose name starts with 'M'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216230-EF4C-A672-4DFC-99EFE224F3F1}"/>
              </a:ext>
            </a:extLst>
          </p:cNvPr>
          <p:cNvSpPr txBox="1"/>
          <p:nvPr/>
        </p:nvSpPr>
        <p:spPr>
          <a:xfrm>
            <a:off x="2362200" y="2461950"/>
            <a:ext cx="11582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DISTINCT batsman</a:t>
            </a:r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WHERE batsman LIKE 'M%';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2B102ED-B516-BB31-0A4F-3A008D2F01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4410023"/>
            <a:ext cx="2971800" cy="5245678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79F7CCCD-B7D0-818E-7BC5-1B49A17F698A}"/>
              </a:ext>
            </a:extLst>
          </p:cNvPr>
          <p:cNvSpPr/>
          <p:nvPr/>
        </p:nvSpPr>
        <p:spPr>
          <a:xfrm>
            <a:off x="1356851" y="25346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0CE0FF4-7445-9A02-4B8D-3E15C4276E41}"/>
              </a:ext>
            </a:extLst>
          </p:cNvPr>
          <p:cNvSpPr txBox="1"/>
          <p:nvPr/>
        </p:nvSpPr>
        <p:spPr>
          <a:xfrm>
            <a:off x="2531172" y="723900"/>
            <a:ext cx="12785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4. IS NULL – Find matches with missing city info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F4DF4-6565-E4DB-D355-03D2AAE09468}"/>
              </a:ext>
            </a:extLst>
          </p:cNvPr>
          <p:cNvSpPr txBox="1"/>
          <p:nvPr/>
        </p:nvSpPr>
        <p:spPr>
          <a:xfrm>
            <a:off x="2534649" y="1747096"/>
            <a:ext cx="1066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id, date, team1, team2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city IS NULL;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AB5AD885-44C2-3E4A-DBF3-174FECF5BEFB}"/>
              </a:ext>
            </a:extLst>
          </p:cNvPr>
          <p:cNvSpPr/>
          <p:nvPr/>
        </p:nvSpPr>
        <p:spPr>
          <a:xfrm>
            <a:off x="1392330" y="186389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3A9942-F123-15A8-D46E-A5743031B6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4093731"/>
            <a:ext cx="984984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7C78338-1AD0-96C3-A927-23B09B869683}"/>
              </a:ext>
            </a:extLst>
          </p:cNvPr>
          <p:cNvSpPr txBox="1"/>
          <p:nvPr/>
        </p:nvSpPr>
        <p:spPr>
          <a:xfrm>
            <a:off x="2667000" y="1080055"/>
            <a:ext cx="127762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5. EXISTS – Find teams that have played at least one match</a:t>
            </a:r>
            <a:endParaRPr lang="en-IN" sz="4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EA5D7-8DDF-6E57-D483-993BF4E185A3}"/>
              </a:ext>
            </a:extLst>
          </p:cNvPr>
          <p:cNvSpPr txBox="1"/>
          <p:nvPr/>
        </p:nvSpPr>
        <p:spPr>
          <a:xfrm>
            <a:off x="2662393" y="2055379"/>
            <a:ext cx="12568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DISTINCT  team1 FROM matches</a:t>
            </a:r>
          </a:p>
          <a:p>
            <a:r>
              <a:rPr lang="en-US" sz="3600" dirty="0"/>
              <a:t>WHERE EXISTS (SELECT DISTINCT team2 FROM matches);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84BA191-20FA-7D22-4BCF-9AE71AFBBBA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8527" y="3719452"/>
            <a:ext cx="6096000" cy="5538848"/>
          </a:xfrm>
          <a:prstGeom prst="rect">
            <a:avLst/>
          </a:prstGeom>
        </p:spPr>
      </p:pic>
      <p:sp>
        <p:nvSpPr>
          <p:cNvPr id="24" name="Arrow: Right 23">
            <a:extLst>
              <a:ext uri="{FF2B5EF4-FFF2-40B4-BE49-F238E27FC236}">
                <a16:creationId xmlns:a16="http://schemas.microsoft.com/office/drawing/2014/main" id="{425A08A5-5FFE-8656-CA9D-ECF6F2C87047}"/>
              </a:ext>
            </a:extLst>
          </p:cNvPr>
          <p:cNvSpPr/>
          <p:nvPr/>
        </p:nvSpPr>
        <p:spPr>
          <a:xfrm>
            <a:off x="1552764" y="210621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D597531-3985-29BA-2EC5-05FEBB533DEF}"/>
              </a:ext>
            </a:extLst>
          </p:cNvPr>
          <p:cNvSpPr txBox="1"/>
          <p:nvPr/>
        </p:nvSpPr>
        <p:spPr>
          <a:xfrm>
            <a:off x="2209800" y="1145666"/>
            <a:ext cx="132334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6. What is the total number of matches played?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FE5AE7-0572-CD02-CB61-EDB13406DEEC}"/>
              </a:ext>
            </a:extLst>
          </p:cNvPr>
          <p:cNvSpPr txBox="1"/>
          <p:nvPr/>
        </p:nvSpPr>
        <p:spPr>
          <a:xfrm>
            <a:off x="2743200" y="2479748"/>
            <a:ext cx="1028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COUNT(*) AS </a:t>
            </a:r>
            <a:r>
              <a:rPr lang="en-US" sz="3600" dirty="0" err="1"/>
              <a:t>total_matches</a:t>
            </a:r>
            <a:r>
              <a:rPr lang="en-US" sz="3600" dirty="0"/>
              <a:t> FROM matches;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620BD57-7C16-8EB9-398D-E1788CDBB8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3621073"/>
            <a:ext cx="4899166" cy="476845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4218CD83-D39B-BB15-4E08-C4554306B553}"/>
              </a:ext>
            </a:extLst>
          </p:cNvPr>
          <p:cNvSpPr/>
          <p:nvPr/>
        </p:nvSpPr>
        <p:spPr>
          <a:xfrm>
            <a:off x="1552764" y="256059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0C34AED5-5720-F97D-9E4B-52084FF16B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00" y="3796688"/>
            <a:ext cx="4965611" cy="493026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BA03025-91F2-A096-7EA2-33C0508E0465}"/>
              </a:ext>
            </a:extLst>
          </p:cNvPr>
          <p:cNvSpPr txBox="1"/>
          <p:nvPr/>
        </p:nvSpPr>
        <p:spPr>
          <a:xfrm>
            <a:off x="2662393" y="1145665"/>
            <a:ext cx="1196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7.How many total runs were scored in IPL history?</a:t>
            </a:r>
            <a:endParaRPr lang="en-IN" sz="4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63EE25-FDFD-F1C9-ECB3-6C264D885355}"/>
              </a:ext>
            </a:extLst>
          </p:cNvPr>
          <p:cNvSpPr txBox="1"/>
          <p:nvPr/>
        </p:nvSpPr>
        <p:spPr>
          <a:xfrm>
            <a:off x="2662393" y="2440885"/>
            <a:ext cx="10459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SUM(</a:t>
            </a:r>
            <a:r>
              <a:rPr lang="en-US" sz="3600" dirty="0" err="1"/>
              <a:t>total_runs</a:t>
            </a:r>
            <a:r>
              <a:rPr lang="en-US" sz="3600" dirty="0"/>
              <a:t>) AS </a:t>
            </a:r>
            <a:r>
              <a:rPr lang="en-US" sz="3600" dirty="0" err="1"/>
              <a:t>total_runs_scored</a:t>
            </a:r>
            <a:r>
              <a:rPr lang="en-US" sz="3600" dirty="0"/>
              <a:t> FROM deliveries;</a:t>
            </a:r>
            <a:endParaRPr lang="en-IN" sz="3600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22EB0670-F220-2B2E-881E-86F891EFA940}"/>
              </a:ext>
            </a:extLst>
          </p:cNvPr>
          <p:cNvSpPr/>
          <p:nvPr/>
        </p:nvSpPr>
        <p:spPr>
          <a:xfrm>
            <a:off x="1552764" y="258155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FCA294-03FE-2B25-A5AB-9F0A43817D4A}"/>
              </a:ext>
            </a:extLst>
          </p:cNvPr>
          <p:cNvSpPr txBox="1"/>
          <p:nvPr/>
        </p:nvSpPr>
        <p:spPr>
          <a:xfrm>
            <a:off x="2381529" y="723900"/>
            <a:ext cx="1308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8. What is the average number of runs per ball?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C323AB-23F0-3FDC-4DC9-A0B2ADA73272}"/>
              </a:ext>
            </a:extLst>
          </p:cNvPr>
          <p:cNvSpPr txBox="1"/>
          <p:nvPr/>
        </p:nvSpPr>
        <p:spPr>
          <a:xfrm>
            <a:off x="2971800" y="2055379"/>
            <a:ext cx="9584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AVG(</a:t>
            </a:r>
            <a:r>
              <a:rPr lang="en-US" sz="3600" dirty="0" err="1"/>
              <a:t>total_runs</a:t>
            </a:r>
            <a:r>
              <a:rPr lang="en-US" sz="3600" dirty="0"/>
              <a:t>) AS </a:t>
            </a:r>
            <a:r>
              <a:rPr lang="en-US" sz="3600" dirty="0" err="1"/>
              <a:t>avg_runs_per_ball</a:t>
            </a:r>
            <a:r>
              <a:rPr lang="en-US" sz="3600" dirty="0"/>
              <a:t> FROM deliveries;</a:t>
            </a:r>
            <a:endParaRPr lang="en-IN" sz="3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AB6ADB9-684A-A609-A8D8-A71643086336}"/>
              </a:ext>
            </a:extLst>
          </p:cNvPr>
          <p:cNvSpPr/>
          <p:nvPr/>
        </p:nvSpPr>
        <p:spPr>
          <a:xfrm>
            <a:off x="1773078" y="212485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32FA6E-1808-6335-79AF-68E522683E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3757" y="3467100"/>
            <a:ext cx="4572000" cy="5435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Rectangle 2">
            <a:extLst>
              <a:ext uri="{FF2B5EF4-FFF2-40B4-BE49-F238E27FC236}">
                <a16:creationId xmlns:a16="http://schemas.microsoft.com/office/drawing/2014/main" id="{E922534F-E257-3664-E8BF-E85E90822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0323" y="1126257"/>
            <a:ext cx="1315296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4000" b="1" dirty="0">
                <a:latin typeface="Arial" panose="020B0604020202020204" pitchFamily="34" charset="0"/>
              </a:rPr>
              <a:t>9</a:t>
            </a: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Who scored the maximum number of runs overall?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9E28F8-1CDB-7C3D-0A1F-C5688AD507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651047"/>
            <a:ext cx="4634123" cy="473645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14B1457-CFD5-BE98-AE79-D8588DE28683}"/>
              </a:ext>
            </a:extLst>
          </p:cNvPr>
          <p:cNvSpPr txBox="1"/>
          <p:nvPr/>
        </p:nvSpPr>
        <p:spPr>
          <a:xfrm>
            <a:off x="2956108" y="2348527"/>
            <a:ext cx="12375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batsman, SUM(</a:t>
            </a:r>
            <a:r>
              <a:rPr lang="en-US" sz="3600" dirty="0" err="1"/>
              <a:t>batsman_runs</a:t>
            </a:r>
            <a:r>
              <a:rPr lang="en-US" sz="3600" dirty="0"/>
              <a:t>) AS </a:t>
            </a:r>
            <a:r>
              <a:rPr lang="en-US" sz="3600" dirty="0" err="1"/>
              <a:t>total_runs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GROUP BY batsman</a:t>
            </a:r>
          </a:p>
          <a:p>
            <a:r>
              <a:rPr lang="en-US" sz="3600" dirty="0"/>
              <a:t>ORDER BY </a:t>
            </a:r>
            <a:r>
              <a:rPr lang="en-US" sz="3600" dirty="0" err="1"/>
              <a:t>total_runs</a:t>
            </a:r>
            <a:r>
              <a:rPr lang="en-US" sz="3600" dirty="0"/>
              <a:t> DESCLIMIT 1;</a:t>
            </a:r>
            <a:endParaRPr lang="en-IN" sz="3600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9B86ABE-1306-3104-1FA5-05FC7A7547DB}"/>
              </a:ext>
            </a:extLst>
          </p:cNvPr>
          <p:cNvSpPr/>
          <p:nvPr/>
        </p:nvSpPr>
        <p:spPr>
          <a:xfrm>
            <a:off x="1644808" y="248437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2AE3BB2-0914-03FC-1887-756A07CB8279}"/>
              </a:ext>
            </a:extLst>
          </p:cNvPr>
          <p:cNvSpPr txBox="1"/>
          <p:nvPr/>
        </p:nvSpPr>
        <p:spPr>
          <a:xfrm>
            <a:off x="2531172" y="723900"/>
            <a:ext cx="131660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10. What is the highest individual score in a match by a batsman?</a:t>
            </a:r>
            <a:endParaRPr lang="en-IN" sz="40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65647B-9FD9-5EB2-F6FA-03353C9AED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8800" y="4882741"/>
            <a:ext cx="5791200" cy="385132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D89F92-9BC8-54D9-9324-65328EA03B46}"/>
              </a:ext>
            </a:extLst>
          </p:cNvPr>
          <p:cNvSpPr txBox="1"/>
          <p:nvPr/>
        </p:nvSpPr>
        <p:spPr>
          <a:xfrm>
            <a:off x="2531172" y="2479748"/>
            <a:ext cx="114134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match_id</a:t>
            </a:r>
            <a:r>
              <a:rPr lang="en-US" sz="3600" dirty="0"/>
              <a:t>, batsman, SUM(</a:t>
            </a:r>
            <a:r>
              <a:rPr lang="en-US" sz="3600" dirty="0" err="1"/>
              <a:t>batsman_runs</a:t>
            </a:r>
            <a:r>
              <a:rPr lang="en-US" sz="3600" dirty="0"/>
              <a:t>) AS runs</a:t>
            </a:r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GROUP BY </a:t>
            </a:r>
            <a:r>
              <a:rPr lang="en-US" sz="3600" dirty="0" err="1"/>
              <a:t>match_id</a:t>
            </a:r>
            <a:r>
              <a:rPr lang="en-US" sz="3600" dirty="0"/>
              <a:t>, batsman</a:t>
            </a:r>
          </a:p>
          <a:p>
            <a:r>
              <a:rPr lang="en-US" sz="3600" dirty="0"/>
              <a:t>ORDER BY runs DESCLIMIT 1;</a:t>
            </a:r>
            <a:endParaRPr lang="en-IN" sz="3600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03E64F17-983B-D968-1BD2-2BE9FC7B0AEB}"/>
              </a:ext>
            </a:extLst>
          </p:cNvPr>
          <p:cNvSpPr/>
          <p:nvPr/>
        </p:nvSpPr>
        <p:spPr>
          <a:xfrm>
            <a:off x="1501157" y="259194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418925D-F34A-F2A2-B826-F4A3109D5D42}"/>
              </a:ext>
            </a:extLst>
          </p:cNvPr>
          <p:cNvSpPr txBox="1"/>
          <p:nvPr/>
        </p:nvSpPr>
        <p:spPr>
          <a:xfrm>
            <a:off x="2687944" y="961000"/>
            <a:ext cx="129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11. How many total wickets were taken?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8D7706-EC6F-3F51-6348-3978F6306581}"/>
              </a:ext>
            </a:extLst>
          </p:cNvPr>
          <p:cNvSpPr txBox="1"/>
          <p:nvPr/>
        </p:nvSpPr>
        <p:spPr>
          <a:xfrm>
            <a:off x="3380212" y="2158011"/>
            <a:ext cx="929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COUNT(*) AS </a:t>
            </a:r>
            <a:r>
              <a:rPr lang="en-US" sz="3600" dirty="0" err="1"/>
              <a:t>total_wickets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WHERE </a:t>
            </a:r>
            <a:r>
              <a:rPr lang="en-US" sz="3600" dirty="0" err="1"/>
              <a:t>dismissal_kind</a:t>
            </a:r>
            <a:r>
              <a:rPr lang="en-US" sz="3600" dirty="0"/>
              <a:t> IS NOT NULL;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3C08FF5-F4A9-60F0-EE06-C5C7C586797C}"/>
              </a:ext>
            </a:extLst>
          </p:cNvPr>
          <p:cNvSpPr/>
          <p:nvPr/>
        </p:nvSpPr>
        <p:spPr>
          <a:xfrm>
            <a:off x="2198740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689E46-F14B-1C0E-5974-2BF00C6F0E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91200" y="4303839"/>
            <a:ext cx="5667785" cy="50482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29996" y="661607"/>
            <a:ext cx="15662490" cy="8368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4000" b="1" dirty="0"/>
              <a:t>12. What is the average number of balls faced by batsmen?</a:t>
            </a:r>
            <a:endParaRPr lang="en-US" sz="4000" b="1" dirty="0">
              <a:solidFill>
                <a:srgbClr val="007D9C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1CFB1C-0B21-FF2B-4980-8E9D8ACFEF76}"/>
              </a:ext>
            </a:extLst>
          </p:cNvPr>
          <p:cNvSpPr txBox="1"/>
          <p:nvPr/>
        </p:nvSpPr>
        <p:spPr>
          <a:xfrm>
            <a:off x="2743200" y="2055379"/>
            <a:ext cx="1226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batsman, COUNT(*) AS </a:t>
            </a:r>
            <a:r>
              <a:rPr lang="en-US" sz="3600" dirty="0" err="1"/>
              <a:t>balls_faced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GROUP BY batsman</a:t>
            </a:r>
          </a:p>
          <a:p>
            <a:r>
              <a:rPr lang="en-US" sz="3600" dirty="0"/>
              <a:t>ORDER BY </a:t>
            </a:r>
            <a:r>
              <a:rPr lang="en-US" sz="3600" dirty="0" err="1"/>
              <a:t>balls_faced</a:t>
            </a:r>
            <a:r>
              <a:rPr lang="en-US" sz="3600" dirty="0"/>
              <a:t> DESC;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DAD47A6-BB3F-BE56-96F5-385A5BBBE3CE}"/>
              </a:ext>
            </a:extLst>
          </p:cNvPr>
          <p:cNvSpPr/>
          <p:nvPr/>
        </p:nvSpPr>
        <p:spPr>
          <a:xfrm>
            <a:off x="1524690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4C49DE3-29EB-EF4E-340E-9E8EACCA4B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4199410"/>
            <a:ext cx="4114799" cy="5425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F2584C0-E1A1-DB0A-06E7-E4BBA5726C4B}"/>
              </a:ext>
            </a:extLst>
          </p:cNvPr>
          <p:cNvSpPr txBox="1"/>
          <p:nvPr/>
        </p:nvSpPr>
        <p:spPr>
          <a:xfrm>
            <a:off x="2531172" y="952500"/>
            <a:ext cx="129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13. What is the highest win margin (by runs) in any match?</a:t>
            </a:r>
            <a:endParaRPr lang="en-IN" sz="4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6977D0-E9DD-8A2C-0F0D-0BC0A4C7BBCC}"/>
              </a:ext>
            </a:extLst>
          </p:cNvPr>
          <p:cNvSpPr txBox="1"/>
          <p:nvPr/>
        </p:nvSpPr>
        <p:spPr>
          <a:xfrm>
            <a:off x="3221579" y="2348527"/>
            <a:ext cx="11849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MAX(win_by_runs) AS </a:t>
            </a:r>
            <a:r>
              <a:rPr lang="en-US" sz="3600" dirty="0" err="1"/>
              <a:t>max_win_margin</a:t>
            </a:r>
            <a:r>
              <a:rPr lang="en-US" sz="3600" dirty="0"/>
              <a:t> FROM matches;</a:t>
            </a:r>
          </a:p>
          <a:p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DF5BD40-D913-39C3-107F-A5CE8BA6D5D1}"/>
              </a:ext>
            </a:extLst>
          </p:cNvPr>
          <p:cNvSpPr/>
          <p:nvPr/>
        </p:nvSpPr>
        <p:spPr>
          <a:xfrm>
            <a:off x="2041968" y="246402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9D1974-0AC2-6D9D-AA37-6729E6007A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6630" y="3695700"/>
            <a:ext cx="4387297" cy="44490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97920FD-4238-9CB7-01B7-709C465D7EC1}"/>
              </a:ext>
            </a:extLst>
          </p:cNvPr>
          <p:cNvSpPr txBox="1"/>
          <p:nvPr/>
        </p:nvSpPr>
        <p:spPr>
          <a:xfrm>
            <a:off x="2531172" y="876300"/>
            <a:ext cx="130898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14. What is the smallest win margin (by wickets) in a match?</a:t>
            </a:r>
            <a:endParaRPr lang="en-IN" sz="4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A4CEF4-9BF0-7FC9-7F13-3F19CC86B75F}"/>
              </a:ext>
            </a:extLst>
          </p:cNvPr>
          <p:cNvSpPr txBox="1"/>
          <p:nvPr/>
        </p:nvSpPr>
        <p:spPr>
          <a:xfrm>
            <a:off x="3378306" y="1849923"/>
            <a:ext cx="1201428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MIN(</a:t>
            </a:r>
            <a:r>
              <a:rPr lang="en-US" sz="3600" dirty="0" err="1"/>
              <a:t>win_by_wickets</a:t>
            </a:r>
            <a:r>
              <a:rPr lang="en-US" sz="3600" dirty="0"/>
              <a:t>) AS </a:t>
            </a:r>
            <a:r>
              <a:rPr lang="en-US" sz="3600" dirty="0" err="1"/>
              <a:t>min_win_by_wickets</a:t>
            </a:r>
            <a:endParaRPr lang="en-US" sz="3600" dirty="0"/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</a:t>
            </a:r>
            <a:r>
              <a:rPr lang="en-US" sz="3600" dirty="0" err="1"/>
              <a:t>win_by_wickets</a:t>
            </a:r>
            <a:r>
              <a:rPr lang="en-US" sz="3600" dirty="0"/>
              <a:t> &gt; 0;</a:t>
            </a:r>
          </a:p>
          <a:p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92845A0C-AF23-9027-FF45-6A6873F98FC6}"/>
              </a:ext>
            </a:extLst>
          </p:cNvPr>
          <p:cNvSpPr/>
          <p:nvPr/>
        </p:nvSpPr>
        <p:spPr>
          <a:xfrm>
            <a:off x="2268677" y="1959637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F03F28-0793-8E0B-8292-58BD07EBE7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673" y="3721907"/>
            <a:ext cx="3967070" cy="50351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ED9111C-91EF-4BB6-9EDA-72E62C92FFC2}"/>
              </a:ext>
            </a:extLst>
          </p:cNvPr>
          <p:cNvSpPr txBox="1"/>
          <p:nvPr/>
        </p:nvSpPr>
        <p:spPr>
          <a:xfrm>
            <a:off x="2531172" y="800100"/>
            <a:ext cx="12670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15. How many matches were played each season?</a:t>
            </a:r>
            <a:endParaRPr lang="en-IN" sz="4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51C605-41AB-DBF5-D409-FCBDB6272805}"/>
              </a:ext>
            </a:extLst>
          </p:cNvPr>
          <p:cNvSpPr txBox="1"/>
          <p:nvPr/>
        </p:nvSpPr>
        <p:spPr>
          <a:xfrm>
            <a:off x="3352800" y="2055379"/>
            <a:ext cx="929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season, COUNT(*) AS matches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GROUP BY season;</a:t>
            </a:r>
          </a:p>
          <a:p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59CFAE1-F0AD-07C1-6496-86BC52793935}"/>
              </a:ext>
            </a:extLst>
          </p:cNvPr>
          <p:cNvSpPr/>
          <p:nvPr/>
        </p:nvSpPr>
        <p:spPr>
          <a:xfrm>
            <a:off x="2041968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1ABA68C-BA0F-B38A-9117-8220CFEDD3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4846" y="3369980"/>
            <a:ext cx="3554351" cy="56606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5D5A081-0114-3A88-F8F2-DD060E5DD642}"/>
              </a:ext>
            </a:extLst>
          </p:cNvPr>
          <p:cNvSpPr txBox="1"/>
          <p:nvPr/>
        </p:nvSpPr>
        <p:spPr>
          <a:xfrm>
            <a:off x="2519929" y="876300"/>
            <a:ext cx="124802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16. Who won the most matches?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B365E7-B47B-3738-58E3-9A09071BC25E}"/>
              </a:ext>
            </a:extLst>
          </p:cNvPr>
          <p:cNvSpPr txBox="1"/>
          <p:nvPr/>
        </p:nvSpPr>
        <p:spPr>
          <a:xfrm>
            <a:off x="3408286" y="1779901"/>
            <a:ext cx="8305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winner, COUNT(*) AS wins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GROUP BY winner</a:t>
            </a:r>
          </a:p>
          <a:p>
            <a:r>
              <a:rPr lang="en-US" sz="3600" dirty="0"/>
              <a:t>ORDER BY wins DESC;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F587B58-1B96-B0E5-416E-0D3C229360C0}"/>
              </a:ext>
            </a:extLst>
          </p:cNvPr>
          <p:cNvSpPr/>
          <p:nvPr/>
        </p:nvSpPr>
        <p:spPr>
          <a:xfrm>
            <a:off x="2107579" y="190024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7C8DF10-F350-475E-0FE7-6B370E8A85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4071591"/>
            <a:ext cx="4354133" cy="52645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578A60B-A33F-B044-9068-C74D72C99538}"/>
              </a:ext>
            </a:extLst>
          </p:cNvPr>
          <p:cNvSpPr txBox="1"/>
          <p:nvPr/>
        </p:nvSpPr>
        <p:spPr>
          <a:xfrm>
            <a:off x="2531172" y="627639"/>
            <a:ext cx="121754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17. What is the average number of matches hosted per city?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CC0D7-0320-7B05-5695-EB23DC93BF43}"/>
              </a:ext>
            </a:extLst>
          </p:cNvPr>
          <p:cNvSpPr txBox="1"/>
          <p:nvPr/>
        </p:nvSpPr>
        <p:spPr>
          <a:xfrm>
            <a:off x="3352800" y="2086155"/>
            <a:ext cx="10896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city, COUNT(*) AS matches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GROUP BY city</a:t>
            </a:r>
          </a:p>
          <a:p>
            <a:r>
              <a:rPr lang="en-US" sz="3600" dirty="0"/>
              <a:t>ORDER BY matches DESC;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C868263-34F1-305A-171B-3C6E79A27F85}"/>
              </a:ext>
            </a:extLst>
          </p:cNvPr>
          <p:cNvSpPr/>
          <p:nvPr/>
        </p:nvSpPr>
        <p:spPr>
          <a:xfrm>
            <a:off x="2218187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1FD9E14-CCFB-730E-153E-042EF829D7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4350724"/>
            <a:ext cx="2943460" cy="524051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2C4EA99-0E56-87AD-397C-C020FAFFEA4E}"/>
              </a:ext>
            </a:extLst>
          </p:cNvPr>
          <p:cNvSpPr txBox="1"/>
          <p:nvPr/>
        </p:nvSpPr>
        <p:spPr>
          <a:xfrm>
            <a:off x="2481856" y="723900"/>
            <a:ext cx="122125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18. What is the total number of sixes hit by each team?</a:t>
            </a:r>
            <a:endParaRPr lang="en-IN" sz="40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A41A4E-0E49-1033-A519-543AEB2E2C9A}"/>
              </a:ext>
            </a:extLst>
          </p:cNvPr>
          <p:cNvSpPr txBox="1"/>
          <p:nvPr/>
        </p:nvSpPr>
        <p:spPr>
          <a:xfrm>
            <a:off x="3252866" y="1439906"/>
            <a:ext cx="114178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batting_team</a:t>
            </a:r>
            <a:r>
              <a:rPr lang="en-US" sz="3600" dirty="0"/>
              <a:t>, COUNT(*) AS </a:t>
            </a:r>
            <a:r>
              <a:rPr lang="en-US" sz="3600" dirty="0" err="1"/>
              <a:t>total_sixes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WHERE </a:t>
            </a:r>
            <a:r>
              <a:rPr lang="en-US" sz="3600" dirty="0" err="1"/>
              <a:t>batsman_runs</a:t>
            </a:r>
            <a:r>
              <a:rPr lang="en-US" sz="3600" dirty="0"/>
              <a:t> = 6</a:t>
            </a:r>
          </a:p>
          <a:p>
            <a:r>
              <a:rPr lang="en-US" sz="3600" dirty="0"/>
              <a:t>GROUP BY </a:t>
            </a:r>
            <a:r>
              <a:rPr lang="en-US" sz="3600" dirty="0" err="1"/>
              <a:t>batting_team</a:t>
            </a:r>
            <a:endParaRPr lang="en-US" sz="3600" dirty="0"/>
          </a:p>
          <a:p>
            <a:r>
              <a:rPr lang="en-US" sz="3600" dirty="0"/>
              <a:t>ORDER BY </a:t>
            </a:r>
            <a:r>
              <a:rPr lang="en-US" sz="3600" dirty="0" err="1"/>
              <a:t>total_sixes</a:t>
            </a:r>
            <a:r>
              <a:rPr lang="en-US" sz="3600" dirty="0"/>
              <a:t> DESC;</a:t>
            </a:r>
          </a:p>
          <a:p>
            <a:endParaRPr lang="en-IN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290456F-55F7-498B-CB39-34D826CE0448}"/>
              </a:ext>
            </a:extLst>
          </p:cNvPr>
          <p:cNvSpPr/>
          <p:nvPr/>
        </p:nvSpPr>
        <p:spPr>
          <a:xfrm>
            <a:off x="2324405" y="1573752"/>
            <a:ext cx="797240" cy="4816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626CE8-8D5E-5009-DE7F-142124B2B6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4257451"/>
            <a:ext cx="5410200" cy="508530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7F474C2-A3CF-CCCD-E088-566A6584EB92}"/>
              </a:ext>
            </a:extLst>
          </p:cNvPr>
          <p:cNvSpPr txBox="1"/>
          <p:nvPr/>
        </p:nvSpPr>
        <p:spPr>
          <a:xfrm>
            <a:off x="2538667" y="598283"/>
            <a:ext cx="121363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19. How many matches ended in a tie?</a:t>
            </a:r>
            <a:endParaRPr lang="en-IN" sz="40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9088C11-A472-8347-F12F-06D754551A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772719"/>
            <a:ext cx="5257800" cy="472982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584154-7CA3-4129-4AA3-E554A90D4B83}"/>
              </a:ext>
            </a:extLst>
          </p:cNvPr>
          <p:cNvSpPr txBox="1"/>
          <p:nvPr/>
        </p:nvSpPr>
        <p:spPr>
          <a:xfrm>
            <a:off x="3267161" y="1757291"/>
            <a:ext cx="8458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COUNT(*) AS </a:t>
            </a:r>
            <a:r>
              <a:rPr lang="en-US" sz="3600" dirty="0" err="1"/>
              <a:t>tie_matches</a:t>
            </a:r>
            <a:endParaRPr lang="en-US" sz="3600" dirty="0"/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result = 'tie';</a:t>
            </a:r>
          </a:p>
          <a:p>
            <a:endParaRPr lang="en-IN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61843EAA-8D41-FD65-7E22-5755DC6A9BF9}"/>
              </a:ext>
            </a:extLst>
          </p:cNvPr>
          <p:cNvSpPr/>
          <p:nvPr/>
        </p:nvSpPr>
        <p:spPr>
          <a:xfrm>
            <a:off x="1999753" y="186389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BE2D0FB-EFBD-FE1B-2263-19110D40ED4F}"/>
              </a:ext>
            </a:extLst>
          </p:cNvPr>
          <p:cNvSpPr txBox="1"/>
          <p:nvPr/>
        </p:nvSpPr>
        <p:spPr>
          <a:xfrm>
            <a:off x="2531172" y="723900"/>
            <a:ext cx="129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20. What is the highest total by a team in a single match?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0E413-BD9E-2B42-A64B-7E8900ECBA95}"/>
              </a:ext>
            </a:extLst>
          </p:cNvPr>
          <p:cNvSpPr txBox="1"/>
          <p:nvPr/>
        </p:nvSpPr>
        <p:spPr>
          <a:xfrm>
            <a:off x="3429000" y="1733574"/>
            <a:ext cx="120142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match_id</a:t>
            </a:r>
            <a:r>
              <a:rPr lang="en-US" sz="3600" dirty="0"/>
              <a:t>, </a:t>
            </a:r>
            <a:r>
              <a:rPr lang="en-US" sz="3600" dirty="0" err="1"/>
              <a:t>batting_team</a:t>
            </a:r>
            <a:r>
              <a:rPr lang="en-US" sz="3600" dirty="0"/>
              <a:t>, SUM(</a:t>
            </a:r>
            <a:r>
              <a:rPr lang="en-US" sz="3600" dirty="0" err="1"/>
              <a:t>total_runs</a:t>
            </a:r>
            <a:r>
              <a:rPr lang="en-US" sz="3600" dirty="0"/>
              <a:t>) AS </a:t>
            </a:r>
            <a:r>
              <a:rPr lang="en-US" sz="3600" dirty="0" err="1"/>
              <a:t>total_score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GROUP BY </a:t>
            </a:r>
            <a:r>
              <a:rPr lang="en-US" sz="3600" dirty="0" err="1"/>
              <a:t>match_id</a:t>
            </a:r>
            <a:r>
              <a:rPr lang="en-US" sz="3600" dirty="0"/>
              <a:t>, </a:t>
            </a:r>
            <a:r>
              <a:rPr lang="en-US" sz="3600" dirty="0" err="1"/>
              <a:t>batting_team</a:t>
            </a:r>
            <a:endParaRPr lang="en-US" sz="3600" dirty="0"/>
          </a:p>
          <a:p>
            <a:r>
              <a:rPr lang="en-US" sz="3600" dirty="0"/>
              <a:t>ORDER BY </a:t>
            </a:r>
            <a:r>
              <a:rPr lang="en-US" sz="3600" dirty="0" err="1"/>
              <a:t>total_score</a:t>
            </a:r>
            <a:r>
              <a:rPr lang="en-US" sz="3600" dirty="0"/>
              <a:t> DESC</a:t>
            </a:r>
          </a:p>
          <a:p>
            <a:r>
              <a:rPr lang="en-US" sz="3600" dirty="0"/>
              <a:t>LIMIT 1;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2C0F8BF-ECAE-705E-7849-E68681FED282}"/>
              </a:ext>
            </a:extLst>
          </p:cNvPr>
          <p:cNvSpPr/>
          <p:nvPr/>
        </p:nvSpPr>
        <p:spPr>
          <a:xfrm>
            <a:off x="2231590" y="1779901"/>
            <a:ext cx="978408" cy="508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82C5909-C6BF-8F7C-0295-4D42F0044D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5439" y="4686301"/>
            <a:ext cx="6280081" cy="35442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A630C73-34EF-CA59-E9F6-D3BC63D35FD7}"/>
              </a:ext>
            </a:extLst>
          </p:cNvPr>
          <p:cNvSpPr txBox="1"/>
          <p:nvPr/>
        </p:nvSpPr>
        <p:spPr>
          <a:xfrm>
            <a:off x="2531172" y="647700"/>
            <a:ext cx="1291211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21. Find matches where the win margin by runs was greater than 50.</a:t>
            </a:r>
            <a:endParaRPr lang="en-IN" sz="4000" b="1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D26E5A0-AF36-B0E9-5D77-EC4C2F858E9B}"/>
              </a:ext>
            </a:extLst>
          </p:cNvPr>
          <p:cNvSpPr/>
          <p:nvPr/>
        </p:nvSpPr>
        <p:spPr>
          <a:xfrm>
            <a:off x="2152869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1519C9-1B88-9800-46C6-2D0E5ADB8B42}"/>
              </a:ext>
            </a:extLst>
          </p:cNvPr>
          <p:cNvSpPr txBox="1"/>
          <p:nvPr/>
        </p:nvSpPr>
        <p:spPr>
          <a:xfrm>
            <a:off x="3219693" y="2055379"/>
            <a:ext cx="10668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id, winner, win_by_runs</a:t>
            </a:r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win_by_runs &gt; 50;</a:t>
            </a:r>
          </a:p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51F334-3B55-3DAD-74BF-CEE5FC1B1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4170944"/>
            <a:ext cx="5638800" cy="404030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31DC296-FC49-24D1-BA94-164C4B825473}"/>
              </a:ext>
            </a:extLst>
          </p:cNvPr>
          <p:cNvSpPr txBox="1"/>
          <p:nvPr/>
        </p:nvSpPr>
        <p:spPr>
          <a:xfrm>
            <a:off x="2875014" y="571500"/>
            <a:ext cx="125682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22. Find matches where the win margin by wickets was less than 3.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4201FB-58E4-EE74-DC45-5908231947D7}"/>
              </a:ext>
            </a:extLst>
          </p:cNvPr>
          <p:cNvSpPr txBox="1"/>
          <p:nvPr/>
        </p:nvSpPr>
        <p:spPr>
          <a:xfrm>
            <a:off x="3429000" y="2508412"/>
            <a:ext cx="121539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id, winner, </a:t>
            </a:r>
            <a:r>
              <a:rPr lang="en-US" sz="3600" dirty="0" err="1"/>
              <a:t>win_by_wickets</a:t>
            </a:r>
            <a:endParaRPr lang="en-US" sz="3600" dirty="0"/>
          </a:p>
          <a:p>
            <a:r>
              <a:rPr lang="en-US" sz="3600" dirty="0"/>
              <a:t>FROM matches</a:t>
            </a:r>
          </a:p>
          <a:p>
            <a:r>
              <a:rPr lang="en-US" sz="3600" dirty="0"/>
              <a:t>WHERE </a:t>
            </a:r>
            <a:r>
              <a:rPr lang="en-US" sz="3600" dirty="0" err="1"/>
              <a:t>win_by_wickets</a:t>
            </a:r>
            <a:r>
              <a:rPr lang="en-US" sz="3600" dirty="0"/>
              <a:t> &lt; 3 AND </a:t>
            </a:r>
            <a:r>
              <a:rPr lang="en-US" sz="3600" dirty="0" err="1"/>
              <a:t>win_by_wickets</a:t>
            </a:r>
            <a:r>
              <a:rPr lang="en-US" sz="3600" dirty="0"/>
              <a:t> &gt; 0;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9822BC0-775D-0AD4-7256-B93166BB0895}"/>
              </a:ext>
            </a:extLst>
          </p:cNvPr>
          <p:cNvSpPr/>
          <p:nvPr/>
        </p:nvSpPr>
        <p:spPr>
          <a:xfrm>
            <a:off x="2215896" y="2657865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F7138F5-C7E9-9527-B382-71F606873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0361" y="4539737"/>
            <a:ext cx="7107277" cy="3878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7C996B9-680E-B8E3-D92D-9B606F62B005}"/>
              </a:ext>
            </a:extLst>
          </p:cNvPr>
          <p:cNvSpPr txBox="1"/>
          <p:nvPr/>
        </p:nvSpPr>
        <p:spPr>
          <a:xfrm>
            <a:off x="2531172" y="627639"/>
            <a:ext cx="126707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23. List all deliveries where more than 4 runs were scored.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567D9D-AE08-CF89-3B61-47DA13E2B96E}"/>
              </a:ext>
            </a:extLst>
          </p:cNvPr>
          <p:cNvSpPr txBox="1"/>
          <p:nvPr/>
        </p:nvSpPr>
        <p:spPr>
          <a:xfrm>
            <a:off x="3429000" y="2055379"/>
            <a:ext cx="1089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</a:t>
            </a:r>
            <a:r>
              <a:rPr lang="en-US" sz="3600" dirty="0" err="1"/>
              <a:t>match_id</a:t>
            </a:r>
            <a:r>
              <a:rPr lang="en-US" sz="3600" dirty="0"/>
              <a:t>, batsman, </a:t>
            </a:r>
            <a:r>
              <a:rPr lang="en-US" sz="3600" dirty="0" err="1"/>
              <a:t>total_runsFROM</a:t>
            </a:r>
            <a:r>
              <a:rPr lang="en-US" sz="3600" dirty="0"/>
              <a:t> </a:t>
            </a:r>
            <a:r>
              <a:rPr lang="en-US" sz="3600" dirty="0" err="1"/>
              <a:t>deliveriesWHERE</a:t>
            </a:r>
            <a:r>
              <a:rPr lang="en-US" sz="3600" dirty="0"/>
              <a:t> </a:t>
            </a:r>
            <a:r>
              <a:rPr lang="en-US" sz="3600" dirty="0" err="1"/>
              <a:t>total_runs</a:t>
            </a:r>
            <a:r>
              <a:rPr lang="en-US" sz="3600" dirty="0"/>
              <a:t> &gt; 4;</a:t>
            </a:r>
            <a:endParaRPr lang="en-IN" sz="3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223FF3A-04F6-AE94-F0D5-9B609932F373}"/>
              </a:ext>
            </a:extLst>
          </p:cNvPr>
          <p:cNvSpPr/>
          <p:nvPr/>
        </p:nvSpPr>
        <p:spPr>
          <a:xfrm>
            <a:off x="2319371" y="213007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E21BEA-B799-A27D-DF7E-2492F50FAA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3590917"/>
            <a:ext cx="5257800" cy="488556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CC4B7D8-0B83-A3C7-F8B1-524A4EBDD46E}"/>
              </a:ext>
            </a:extLst>
          </p:cNvPr>
          <p:cNvSpPr txBox="1"/>
          <p:nvPr/>
        </p:nvSpPr>
        <p:spPr>
          <a:xfrm>
            <a:off x="2743200" y="723900"/>
            <a:ext cx="124587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24. Which batsmen scored less than 20 total runs in the entire tournament?</a:t>
            </a:r>
            <a:endParaRPr lang="en-IN" sz="4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F19CFD-8CD1-6D55-802B-485B7D1DB317}"/>
              </a:ext>
            </a:extLst>
          </p:cNvPr>
          <p:cNvSpPr txBox="1"/>
          <p:nvPr/>
        </p:nvSpPr>
        <p:spPr>
          <a:xfrm>
            <a:off x="3526379" y="2348527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batsman, SUM(</a:t>
            </a:r>
            <a:r>
              <a:rPr lang="en-US" sz="3600" dirty="0" err="1"/>
              <a:t>batsman_runs</a:t>
            </a:r>
            <a:r>
              <a:rPr lang="en-US" sz="3600" dirty="0"/>
              <a:t>) AS </a:t>
            </a:r>
            <a:r>
              <a:rPr lang="en-US" sz="3600" dirty="0" err="1"/>
              <a:t>totalFROM</a:t>
            </a:r>
            <a:r>
              <a:rPr lang="en-US" sz="3600" dirty="0"/>
              <a:t> </a:t>
            </a:r>
            <a:r>
              <a:rPr lang="en-US" sz="3600" dirty="0" err="1"/>
              <a:t>deliveriesGROUP</a:t>
            </a:r>
            <a:r>
              <a:rPr lang="en-US" sz="3600" dirty="0"/>
              <a:t> BY </a:t>
            </a:r>
            <a:r>
              <a:rPr lang="en-US" sz="3600" dirty="0" err="1"/>
              <a:t>batsmanHAVING</a:t>
            </a:r>
            <a:r>
              <a:rPr lang="en-US" sz="3600" dirty="0"/>
              <a:t> total &lt; 20;</a:t>
            </a:r>
            <a:endParaRPr lang="en-IN" sz="36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A0BFF55-19B8-4320-7FAD-9DD7070AEAF0}"/>
              </a:ext>
            </a:extLst>
          </p:cNvPr>
          <p:cNvSpPr/>
          <p:nvPr/>
        </p:nvSpPr>
        <p:spPr>
          <a:xfrm>
            <a:off x="2362200" y="247974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B19B88-CEFA-985C-EEE5-645226B5E1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50" y="4019172"/>
            <a:ext cx="3429000" cy="51993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43283" y="-800100"/>
            <a:ext cx="5160004" cy="2580002"/>
          </a:xfrm>
          <a:custGeom>
            <a:avLst/>
            <a:gdLst/>
            <a:ahLst/>
            <a:cxnLst/>
            <a:rect l="l" t="t" r="r" b="b"/>
            <a:pathLst>
              <a:path w="5160004" h="2580002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1352580" y="7144503"/>
            <a:ext cx="4227594" cy="4227594"/>
          </a:xfrm>
          <a:custGeom>
            <a:avLst/>
            <a:gdLst/>
            <a:ahLst/>
            <a:cxnLst/>
            <a:rect l="l" t="t" r="r" b="b"/>
            <a:pathLst>
              <a:path w="4227594" h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784324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259300" y="6703862"/>
            <a:ext cx="2053173" cy="205317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3285545" y="-800100"/>
            <a:ext cx="5816717" cy="2855479"/>
          </a:xfrm>
          <a:custGeom>
            <a:avLst/>
            <a:gdLst/>
            <a:ahLst/>
            <a:cxnLst/>
            <a:rect l="l" t="t" r="r" b="b"/>
            <a:pathLst>
              <a:path w="5816717" h="2855479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638476" y="1080055"/>
            <a:ext cx="1399693" cy="139969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02A9E0A-F04E-3FDA-AE5D-A574E099EA78}"/>
              </a:ext>
            </a:extLst>
          </p:cNvPr>
          <p:cNvSpPr txBox="1"/>
          <p:nvPr/>
        </p:nvSpPr>
        <p:spPr>
          <a:xfrm>
            <a:off x="2531172" y="627639"/>
            <a:ext cx="12912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25. Which bowlers bowled more than 300 deliveries?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8B37E5-D5F6-6135-3011-CB957AE7B933}"/>
              </a:ext>
            </a:extLst>
          </p:cNvPr>
          <p:cNvSpPr txBox="1"/>
          <p:nvPr/>
        </p:nvSpPr>
        <p:spPr>
          <a:xfrm>
            <a:off x="3429000" y="2055379"/>
            <a:ext cx="10820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SELECT bowler, COUNT(*) AS </a:t>
            </a:r>
            <a:r>
              <a:rPr lang="en-US" sz="3600" dirty="0" err="1"/>
              <a:t>balls_bowled</a:t>
            </a:r>
            <a:endParaRPr lang="en-US" sz="3600" dirty="0"/>
          </a:p>
          <a:p>
            <a:r>
              <a:rPr lang="en-US" sz="3600" dirty="0"/>
              <a:t>FROM deliveries</a:t>
            </a:r>
          </a:p>
          <a:p>
            <a:r>
              <a:rPr lang="en-US" sz="3600" dirty="0"/>
              <a:t>GROUP BY bowler</a:t>
            </a:r>
          </a:p>
          <a:p>
            <a:r>
              <a:rPr lang="en-US" sz="3600" dirty="0"/>
              <a:t>HAVING </a:t>
            </a:r>
            <a:r>
              <a:rPr lang="en-US" sz="3600" dirty="0" err="1"/>
              <a:t>balls_bowled</a:t>
            </a:r>
            <a:r>
              <a:rPr lang="en-US" sz="3600" dirty="0"/>
              <a:t> &gt; 300;</a:t>
            </a:r>
          </a:p>
          <a:p>
            <a:endParaRPr lang="en-IN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05B5B0E-CA8B-2E84-2BAA-90C61CDA5D9D}"/>
              </a:ext>
            </a:extLst>
          </p:cNvPr>
          <p:cNvSpPr/>
          <p:nvPr/>
        </p:nvSpPr>
        <p:spPr>
          <a:xfrm>
            <a:off x="2226333" y="223743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SELECT bowler, COUNT(*) AS balls_bowled</a:t>
            </a:r>
          </a:p>
          <a:p>
            <a:pPr algn="ctr"/>
            <a:r>
              <a:rPr lang="en-US"/>
              <a:t>FROM deliveries</a:t>
            </a:r>
          </a:p>
          <a:p>
            <a:pPr algn="ctr"/>
            <a:r>
              <a:rPr lang="en-US"/>
              <a:t>GROUP BY bowler</a:t>
            </a:r>
          </a:p>
          <a:p>
            <a:pPr algn="ctr"/>
            <a:r>
              <a:rPr lang="en-US"/>
              <a:t>HAVING balls_bowled &gt; 300;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095B24-D482-0328-0FB2-896E7C1499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4626336"/>
            <a:ext cx="3048000" cy="46216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916</Words>
  <Application>Microsoft Office PowerPoint</Application>
  <PresentationFormat>Custom</PresentationFormat>
  <Paragraphs>113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Open Sauce Heavy</vt:lpstr>
      <vt:lpstr>Arial</vt:lpstr>
      <vt:lpstr>Canva Sans Bold</vt:lpstr>
      <vt:lpstr>Calibri</vt:lpstr>
      <vt:lpstr>Open Sauce Bold</vt:lpstr>
      <vt:lpstr>Aptos</vt:lpstr>
      <vt:lpstr>Open Sauce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Final Project-Tanmay_Sahu</dc:title>
  <dc:creator>Shrishail B K</dc:creator>
  <cp:lastModifiedBy>Abhishek B K</cp:lastModifiedBy>
  <cp:revision>4</cp:revision>
  <dcterms:created xsi:type="dcterms:W3CDTF">2006-08-16T00:00:00Z</dcterms:created>
  <dcterms:modified xsi:type="dcterms:W3CDTF">2025-06-03T16:06:46Z</dcterms:modified>
  <dc:identifier>DAGnPiwAw6M</dc:identifier>
</cp:coreProperties>
</file>